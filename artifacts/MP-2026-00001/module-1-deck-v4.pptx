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2571750"/>
          </a:xfrm>
        </p:spPr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>
          <a:xfrm>
            <a:off x="685800" y="3429000"/>
            <a:ext cx="5486400" cy="4114800"/>
          </a:xfr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This part covers Fundamentals of Biofuels and Biomass Energy. 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This part covers Entrepreneurship in the Biomass Energy Sector. 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This part covers Managing a Biomass-Based Enterprise. 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This part covers Biomass Resource Management and Procurement. 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18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19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20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21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22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23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ct val="600"/>
              </a:spcAft>
              <a:buNone/>
            </a:pPr>
            <a:r>
              <a:rPr lang="en-US" sz="1200" dirty="0">
                <a:solidFill>
                  <a:srgbClr val="2F4A3E"/>
                </a:solidFill>
                <a:latin typeface="Calibri"/>
              </a:rPr>
              <a:t>Residue is not waste until you decide it is. Collected, dried and pressed, it becomes a fuel someone will pay for. What matters is where you source it, what it costs to move, and whether the quality holds.</a:t>
            </a:r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sz="1200"/>
              <a:t>24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697706"/>
            <a:ext cx="10515600" cy="1325563"/>
          </a:xfrm>
        </p:spPr>
        <p:txBody>
          <a:bodyPr wrap="square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2160588"/>
            <a:ext cx="10515600" cy="3000000"/>
          </a:xfrm>
        </p:spPr>
        <p:txBody>
          <a:bodyPr wrap="square">
            <a:normAutofit/>
          </a:bodyPr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838200" y="697706"/>
            <a:ext cx="10515600" cy="1325563"/>
          </a:xfrm>
        </p:spPr>
        <p:txBody>
          <a:bodyPr wrap="square">
            <a:normAutofit/>
          </a:bodyPr>
          <a:lstStyle/>
          <a:p>
            <a:endParaRPr lang="en-US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838200" y="2160588"/>
            <a:ext cx="10515600" cy="3000000"/>
          </a:xfrm>
        </p:spPr>
        <p:txBody>
          <a:bodyPr wrap="square">
            <a:normAutofit/>
          </a:bodyPr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rgbClr val="1F3864"/>
          </a:solidFill>
          <a:latin typeface="+mj-lt"/>
        </a:defRPr>
      </a:lvl1pPr>
    </p:titleStyle>
    <p:bodyStyle>
      <a:lvl1pPr marL="285750" indent="-285750">
        <a:buFont typeface="Arial"/>
        <a:buChar char="•"/>
        <a:defRPr sz="2000">
          <a:solidFill>
            <a:srgbClr val="262626"/>
          </a:solidFill>
          <a:latin typeface="+mn-lt"/>
        </a:defRPr>
      </a:lvl1pPr>
      <a:lvl2pPr marL="742950" indent="-285750">
        <a:buFont typeface="Arial"/>
        <a:buChar char="–"/>
        <a:defRPr sz="1800"/>
      </a:lvl2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105156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44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ct val="600"/>
              </a:spcAft>
              <a:buNone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>
              <a:spcAft>
                <a:spcPct val="600"/>
              </a:spcAft>
              <a:buNone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>
              <a:spcAft>
                <a:spcPct val="600"/>
              </a:spcAft>
              <a:buNone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label"/>
          <p:cNvSpPr txBox="1"/>
          <p:nvPr/>
        </p:nvSpPr>
        <p:spPr>
          <a:xfrm>
            <a:off x="838200" y="29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ct val="600"/>
              </a:spcAft>
              <a:buNone/>
            </a:pPr>
            <a:r>
              <a:rPr lang="en-US" sz="1200" b="1" dirty="0">
                <a:solidFill>
                  <a:srgbClr val="3F7A55"/>
                </a:solidFill>
                <a:latin typeface="Calibri"/>
              </a:rPr>
              <a:t>UNIT 1.1 - FUNDAMENTALS OF BIOFUELS AND BIOMASS ENERGY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Fundamentals of Biofuels and Biomass Energy</a:t>
            </a:r>
          </a:p>
        </p:txBody>
      </p:sp>
      <p:sp>
        <p:nvSpPr>
          <p:cNvPr id="4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6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7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8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9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0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1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2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3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label"/>
          <p:cNvSpPr txBox="1"/>
          <p:nvPr/>
        </p:nvSpPr>
        <p:spPr>
          <a:xfrm>
            <a:off x="838200" y="29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ct val="600"/>
              </a:spcAft>
              <a:buNone/>
            </a:pPr>
            <a:r>
              <a:rPr lang="en-US" sz="1200" b="1" dirty="0">
                <a:solidFill>
                  <a:srgbClr val="3F7A55"/>
                </a:solidFill>
                <a:latin typeface="Calibri"/>
              </a:rPr>
              <a:t>UNIT 1.2 - ENTREPRENEURSHIP IN THE BIOMASS ENERGY SECTOR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Entrepreneurship in the Biomass Energy Sector</a:t>
            </a:r>
          </a:p>
        </p:txBody>
      </p:sp>
      <p:sp>
        <p:nvSpPr>
          <p:cNvPr id="4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6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7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8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9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0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1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2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3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label"/>
          <p:cNvSpPr txBox="1"/>
          <p:nvPr/>
        </p:nvSpPr>
        <p:spPr>
          <a:xfrm>
            <a:off x="838200" y="29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ct val="600"/>
              </a:spcAft>
              <a:buNone/>
            </a:pPr>
            <a:r>
              <a:rPr lang="en-US" sz="1200" b="1" dirty="0">
                <a:solidFill>
                  <a:srgbClr val="3F7A55"/>
                </a:solidFill>
                <a:latin typeface="Calibri"/>
              </a:rPr>
              <a:t>UNIT 1.3 - MANAGING A BIOMASS-BASED ENTERPRISE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Managing a Biomass-Based Enterprise</a:t>
            </a:r>
          </a:p>
        </p:txBody>
      </p:sp>
      <p:sp>
        <p:nvSpPr>
          <p:cNvPr id="4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6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7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8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9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0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1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2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3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it label"/>
          <p:cNvSpPr txBox="1"/>
          <p:nvPr/>
        </p:nvSpPr>
        <p:spPr>
          <a:xfrm>
            <a:off x="838200" y="290000"/>
            <a:ext cx="6000000" cy="3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>
              <a:spcAft>
                <a:spcPct val="600"/>
              </a:spcAft>
              <a:buNone/>
            </a:pPr>
            <a:r>
              <a:rPr lang="en-US" sz="1200" b="1" dirty="0">
                <a:solidFill>
                  <a:srgbClr val="3F7A55"/>
                </a:solidFill>
                <a:latin typeface="Calibri"/>
              </a:rPr>
              <a:t>UNIT 1.4 - BIOMASS RESOURCE MANAGEMENT AND PROCUREMENT</a:t>
            </a:r>
          </a:p>
        </p:txBody>
      </p:sp>
      <p:sp>
        <p:nvSpPr>
          <p:cNvPr id="3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Biomass Resource Management and Procurement</a:t>
            </a:r>
          </a:p>
        </p:txBody>
      </p:sp>
      <p:sp>
        <p:nvSpPr>
          <p:cNvPr id="4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5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6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7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8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9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0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1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2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3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838200" y="620000"/>
            <a:ext cx="6800000" cy="1150000"/>
          </a:xfrm>
          <a:prstGeom prst="rect">
            <a:avLst/>
          </a:prstGeom>
          <a:noFill/>
        </p:spPr>
        <p:txBody>
          <a:bodyPr wrap="square" lIns="0" rIns="0" tIns="0" bIns="0" anchor="b">
            <a:normAutofit/>
          </a:bodyPr>
          <a:lstStyle/>
          <a:p>
            <a:pPr>
              <a:spcAft>
                <a:spcPct val="0"/>
              </a:spcAft>
              <a:buNone/>
            </a:pPr>
            <a:r>
              <a:rPr lang="en-US" sz="2800" b="1" dirty="0">
                <a:solidFill>
                  <a:srgbClr val="17352A"/>
                </a:solidFill>
                <a:latin typeface="Georgia"/>
              </a:rPr>
              <a:t>Residue is a resource, not waste</a:t>
            </a:r>
          </a:p>
        </p:txBody>
      </p:sp>
      <p:sp>
        <p:nvSpPr>
          <p:cNvPr id="3" name="Accent rule"/>
          <p:cNvSpPr/>
          <p:nvPr/>
        </p:nvSpPr>
        <p:spPr>
          <a:xfrm>
            <a:off x="838200" y="1830000"/>
            <a:ext cx="900000" cy="45720"/>
          </a:xfrm>
          <a:prstGeom prst="rect">
            <a:avLst/>
          </a:prstGeom>
          <a:solidFill>
            <a:srgbClr val="3F7A55"/>
          </a:solidFill>
        </p:spPr>
        <p:txBody>
          <a:bodyPr/>
          <a:lstStyle/>
          <a:p>
            <a:endParaRPr lang="en-US"/>
          </a:p>
        </p:txBody>
      </p:sp>
      <p:sp>
        <p:nvSpPr>
          <p:cNvPr id="4" name="Content"/>
          <p:cNvSpPr txBox="1"/>
          <p:nvPr/>
        </p:nvSpPr>
        <p:spPr>
          <a:xfrm>
            <a:off x="838200" y="1950000"/>
            <a:ext cx="6000000" cy="360000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Collected instead of burned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Dried, sized and pressed</a:t>
            </a:r>
          </a:p>
          <a:p>
            <a:pPr marL="285750" indent="-285750">
              <a:spcAft>
                <a:spcPct val="600"/>
              </a:spcAft>
              <a:buClr>
                <a:srgbClr val="3F7A55"/>
              </a:buClr>
              <a:buFont typeface="Arial"/>
              <a:buChar char="–"/>
            </a:pPr>
            <a:r>
              <a:rPr lang="en-US" sz="1800" dirty="0">
                <a:solidFill>
                  <a:srgbClr val="2F4A3E"/>
                </a:solidFill>
                <a:latin typeface="Calibri"/>
              </a:rPr>
              <a:t>Sold as fuel by weight</a:t>
            </a:r>
          </a:p>
          <a:p>
            <a:endParaRPr lang="en-US"/>
          </a:p>
          <a:p>
            <a:pPr>
              <a:spcAft>
                <a:spcPct val="600"/>
              </a:spcAft>
              <a:buNone/>
            </a:pPr>
            <a:r>
              <a:rPr lang="en-US" sz="1400" b="1" dirty="0">
                <a:solidFill>
                  <a:srgbClr val="3F7A55"/>
                </a:solidFill>
                <a:latin typeface="Calibri"/>
              </a:rPr>
              <a:t>The residue already on your field is the raw material.</a:t>
            </a:r>
          </a:p>
        </p:txBody>
      </p:sp>
      <p:sp>
        <p:nvSpPr>
          <p:cNvPr id="5" name="Step 1"/>
          <p:cNvSpPr/>
          <p:nvPr/>
        </p:nvSpPr>
        <p:spPr>
          <a:xfrm>
            <a:off x="7238200" y="1950000"/>
            <a:ext cx="4115600" cy="490000"/>
          </a:xfrm>
          <a:prstGeom prst="roundRect">
            <a:avLst/>
          </a:prstGeom>
          <a:solidFill>
            <a:srgbClr val="E4EDE5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Collect at the field</a:t>
            </a:r>
          </a:p>
        </p:txBody>
      </p:sp>
      <p:sp>
        <p:nvSpPr>
          <p:cNvPr id="6" name="Arrow 1"/>
          <p:cNvSpPr/>
          <p:nvPr/>
        </p:nvSpPr>
        <p:spPr>
          <a:xfrm>
            <a:off x="9166000" y="253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7" name="Step 2"/>
          <p:cNvSpPr/>
          <p:nvPr/>
        </p:nvSpPr>
        <p:spPr>
          <a:xfrm>
            <a:off x="7238200" y="282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Dry and size</a:t>
            </a:r>
          </a:p>
        </p:txBody>
      </p:sp>
      <p:sp>
        <p:nvSpPr>
          <p:cNvPr id="8" name="Arrow 2"/>
          <p:cNvSpPr/>
          <p:nvPr/>
        </p:nvSpPr>
        <p:spPr>
          <a:xfrm>
            <a:off x="9166000" y="340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9" name="Step 3"/>
          <p:cNvSpPr/>
          <p:nvPr/>
        </p:nvSpPr>
        <p:spPr>
          <a:xfrm>
            <a:off x="7238200" y="369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Press into pellets</a:t>
            </a:r>
          </a:p>
        </p:txBody>
      </p:sp>
      <p:sp>
        <p:nvSpPr>
          <p:cNvPr id="10" name="Arrow 3"/>
          <p:cNvSpPr/>
          <p:nvPr/>
        </p:nvSpPr>
        <p:spPr>
          <a:xfrm>
            <a:off x="9166000" y="4270000"/>
            <a:ext cx="260000" cy="200000"/>
          </a:xfrm>
          <a:prstGeom prst="downArrow">
            <a:avLst/>
          </a:prstGeom>
          <a:solidFill>
            <a:srgbClr val="3F7A55"/>
          </a:solidFill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endParaRPr lang="en-US"/>
          </a:p>
        </p:txBody>
      </p:sp>
      <p:sp>
        <p:nvSpPr>
          <p:cNvPr id="11" name="Step 4"/>
          <p:cNvSpPr/>
          <p:nvPr/>
        </p:nvSpPr>
        <p:spPr>
          <a:xfrm>
            <a:off x="7238200" y="4560000"/>
            <a:ext cx="4115600" cy="490000"/>
          </a:xfrm>
          <a:prstGeom prst="roundRect">
            <a:avLst/>
          </a:prstGeom>
          <a:solidFill>
            <a:srgbClr val="FFFDF7"/>
          </a:solidFill>
          <a:ln w="9525">
            <a:solidFill>
              <a:srgbClr val="DCD5C2"/>
            </a:solidFill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200" dirty="0">
                <a:solidFill>
                  <a:srgbClr val="17352A"/>
                </a:solidFill>
                <a:latin typeface="Calibri"/>
              </a:rPr>
              <a:t>Weigh and sell</a:t>
            </a:r>
          </a:p>
        </p:txBody>
      </p:sp>
      <p:sp>
        <p:nvSpPr>
          <p:cNvPr id="12" name="Visual caption"/>
          <p:cNvSpPr/>
          <p:nvPr/>
        </p:nvSpPr>
        <p:spPr>
          <a:xfrm>
            <a:off x="7238200" y="5130000"/>
            <a:ext cx="4115600" cy="400000"/>
          </a:xfrm>
          <a:prstGeom prst="rect">
            <a:avLst/>
          </a:prstGeom>
          <a:noFill/>
          <a:ln>
            <a:noFill/>
          </a:ln>
        </p:spPr>
        <p:txBody>
          <a:bodyPr lIns="91440" rIns="91440" tIns="45720" bIns="45720" anchor="ctr" wrap="square">
            <a:normAutofit fontScale="90000" lnSpcReduction="10000"/>
          </a:bodyPr>
          <a:lstStyle/>
          <a:p>
            <a:pPr algn="ctr">
              <a:buNone/>
            </a:pPr>
            <a:r>
              <a:rPr lang="en-US" sz="1100" dirty="0">
                <a:solidFill>
                  <a:srgbClr val="7B8C82"/>
                </a:solidFill>
                <a:latin typeface="Calibri"/>
              </a:rPr>
              <a:t>How field residue becomes a sellable fuel.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VC">
  <a:themeElements>
    <a:clrScheme name="CVC">
      <a:dk1>
        <a:sysClr val="windowText" lastClr="000000"/>
      </a:dk1>
      <a:lt1>
        <a:sysClr val="window" lastClr="FFFFFF"/>
      </a:lt1>
      <a:dk2>
        <a:srgbClr val="17352A"/>
      </a:dk2>
      <a:lt2>
        <a:srgbClr val="FAF6EC"/>
      </a:lt2>
      <a:accent1>
        <a:srgbClr val="3F7A55"/>
      </a:accent1>
      <a:accent2>
        <a:srgbClr val="17352A"/>
      </a:accent2>
      <a:accent3>
        <a:srgbClr val="7B8C82"/>
      </a:accent3>
      <a:accent4>
        <a:srgbClr val="6E8F5E"/>
      </a:accent4>
      <a:accent5>
        <a:srgbClr val="A8763E"/>
      </a:accent5>
      <a:accent6>
        <a:srgbClr val="C2A25B"/>
      </a:accent6>
      <a:hlink>
        <a:srgbClr val="0563C1"/>
      </a:hlink>
      <a:folHlink>
        <a:srgbClr val="954F72"/>
      </a:folHlink>
    </a:clrScheme>
    <a:fontScheme name="CVC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CV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CVC Notes">
  <a:themeElements>
    <a:clrScheme name="CVC">
      <a:dk1>
        <a:sysClr val="windowText" lastClr="000000"/>
      </a:dk1>
      <a:lt1>
        <a:sysClr val="window" lastClr="FFFFFF"/>
      </a:lt1>
      <a:dk2>
        <a:srgbClr val="17352A"/>
      </a:dk2>
      <a:lt2>
        <a:srgbClr val="FAF6EC"/>
      </a:lt2>
      <a:accent1>
        <a:srgbClr val="3F7A55"/>
      </a:accent1>
      <a:accent2>
        <a:srgbClr val="17352A"/>
      </a:accent2>
      <a:accent3>
        <a:srgbClr val="7B8C82"/>
      </a:accent3>
      <a:accent4>
        <a:srgbClr val="6E8F5E"/>
      </a:accent4>
      <a:accent5>
        <a:srgbClr val="A8763E"/>
      </a:accent5>
      <a:accent6>
        <a:srgbClr val="C2A25B"/>
      </a:accent6>
      <a:hlink>
        <a:srgbClr val="0563C1"/>
      </a:hlink>
      <a:folHlink>
        <a:srgbClr val="954F72"/>
      </a:folHlink>
    </a:clrScheme>
    <a:fontScheme name="CVC">
      <a:majorFont>
        <a:latin typeface="Georgia"/>
        <a:ea typeface=""/>
        <a:cs typeface=""/>
      </a:majorFont>
      <a:minorFont>
        <a:latin typeface="Calibri"/>
        <a:ea typeface=""/>
        <a:cs typeface=""/>
      </a:minorFont>
    </a:fontScheme>
    <a:fmtScheme name="CV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PresentationFormat>Widescreen</PresentationFormat>
  <Slides>24</Slides>
  <Paragraphs>0</Paragraphs>
  <Words>0</Words>
  <Application>Microsoft Office PowerPoint</Application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Entrepreneurship and Biomass Energy</dc:title>
  <dc:creator>CVC-MCP</dc:creator>
  <cp:lastModifiedBy>CVC-MCP</cp:lastModifiedBy>
  <dcterms:created xsi:type="dcterms:W3CDTF">2026-08-18T17:20:41Z</dcterms:created>
  <dcterms:modified xsi:type="dcterms:W3CDTF">2026-08-18T17:20:41Z</dcterms:modified>
</cp:coreProperties>
</file>